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media/image1.emf" ContentType="image/x-e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CA217-61C0-4DFD-9201-B9E0BA541A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E720AC-D2AF-449D-A242-4380FD0CF7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9492DD-1511-4D7A-9206-D388770CF7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2445A7-CCA6-42EA-8EE1-99787FF50C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90FE9-1BDD-45CD-9EB3-B99A03450E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FB6EB9-8C6A-473F-9D0B-85B839BF3E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6A3BCC-C0DD-49B0-AE67-7BC7A6005A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33D0BD-7D31-442A-B686-FBC8078E62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90891D-AD88-414C-9C0A-6584EE41D6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7E6952-FA1B-4735-8F58-35393C6B9B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DE9C6C-9F79-4510-B5D9-6CB399CF71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What Is an Algorithm?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finite sequence of well-defined steps used to solve a problem or perform a task.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731520" y="182880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22960" y="1920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INPUT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68680" y="2331720"/>
            <a:ext cx="21942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The information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start with.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337560" y="22402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38862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977640" y="192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ALGORITHM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023360" y="2331720"/>
            <a:ext cx="24685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 sequence of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well-defined steps.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6812280" y="22402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7360920" y="182880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7452360" y="1920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OUTPUT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7498080" y="2331720"/>
            <a:ext cx="21942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The solution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 result.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2103120" y="4160520"/>
            <a:ext cx="7954920" cy="822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Problem  →  Algorithm  →  Solution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1828800" y="5257800"/>
            <a:ext cx="8503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 good algorithm should be clear, finite, and reproducible.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From a Problem to an Algorithm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Understand the problem before writing code.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594360" y="1828800"/>
            <a:ext cx="26056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685800" y="192024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1. Understand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731520" y="2331720"/>
            <a:ext cx="23313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What exactly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 the problem?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8"/>
          <p:cNvSpPr/>
          <p:nvPr/>
        </p:nvSpPr>
        <p:spPr>
          <a:xfrm>
            <a:off x="3474720" y="1828800"/>
            <a:ext cx="26056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3566160" y="192024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2. Identify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611880" y="2331720"/>
            <a:ext cx="23313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What are the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inputs and outputs?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6355080" y="1828800"/>
            <a:ext cx="26056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6446520" y="192024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3. Design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6492240" y="2331720"/>
            <a:ext cx="23313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What steps could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solve the problem?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4"/>
          <p:cNvSpPr/>
          <p:nvPr/>
        </p:nvSpPr>
        <p:spPr>
          <a:xfrm>
            <a:off x="9235440" y="1828800"/>
            <a:ext cx="26056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9326880" y="192024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4. Test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9372600" y="2331720"/>
            <a:ext cx="23313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Does the procedure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 for all cases?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7"/>
          <p:cNvSpPr/>
          <p:nvPr/>
        </p:nvSpPr>
        <p:spPr>
          <a:xfrm>
            <a:off x="1554480" y="4389120"/>
            <a:ext cx="9052200" cy="822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Problem  →  Inputs  →  Steps  →  Output  →  Test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Algorithmic Thinking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Break a complex problem into smaller, well-defined operations.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640080" y="1828800"/>
            <a:ext cx="25599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731520" y="19202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DECOMPOSE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777240" y="2331720"/>
            <a:ext cx="228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Break the problem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into smaller tasks.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3474720" y="1828800"/>
            <a:ext cx="25599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3566160" y="19202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RECOGNIZE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3611880" y="2331720"/>
            <a:ext cx="228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Look for patterns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and repeated ideas.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6309360" y="1828800"/>
            <a:ext cx="25599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6400800" y="19202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ABSTRACT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6446520" y="2331720"/>
            <a:ext cx="228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Keep what matters;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ignore irrelevant detail.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4"/>
          <p:cNvSpPr/>
          <p:nvPr/>
        </p:nvSpPr>
        <p:spPr>
          <a:xfrm>
            <a:off x="9144000" y="1828800"/>
            <a:ext cx="25599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9235440" y="19202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DESIGN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9281160" y="2331720"/>
            <a:ext cx="228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Combine the steps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into a procedure.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1097280" y="4572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Good algorithmic thinking turns a large problem into manageable steps.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Pseudocode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Describe the logic without committing to a programming language.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1965960" y="1188000"/>
            <a:ext cx="8229240" cy="4932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BEGIN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Read a list of numbers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minimum = first number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maximum = first number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FOR each number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IF number &lt; minimum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minimum = number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END IF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IF number &gt; maximum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maximum = number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END IF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END FOR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minimum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maximum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3543480" y="6251040"/>
            <a:ext cx="50738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Pseudocode focuses on logic, not Python syntax.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Flowcharts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visual representation of the sequence and decisions in an algorithm.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4892040" y="1417320"/>
            <a:ext cx="237708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d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4892040" y="141732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Start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7"/>
          <p:cNvSpPr/>
          <p:nvPr/>
        </p:nvSpPr>
        <p:spPr>
          <a:xfrm>
            <a:off x="4709160" y="2331720"/>
            <a:ext cx="274284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d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4709160" y="233172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Read number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9"/>
          <p:cNvSpPr/>
          <p:nvPr/>
        </p:nvSpPr>
        <p:spPr>
          <a:xfrm>
            <a:off x="4572000" y="342900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d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4572000" y="342900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Is number &gt; 0?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1"/>
          <p:cNvSpPr/>
          <p:nvPr/>
        </p:nvSpPr>
        <p:spPr>
          <a:xfrm>
            <a:off x="1828800" y="461772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d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1828800" y="461772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Positive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3"/>
          <p:cNvSpPr/>
          <p:nvPr/>
        </p:nvSpPr>
        <p:spPr>
          <a:xfrm>
            <a:off x="8046720" y="461772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d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8046720" y="461772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Not positive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5"/>
          <p:cNvSpPr/>
          <p:nvPr/>
        </p:nvSpPr>
        <p:spPr>
          <a:xfrm>
            <a:off x="5715000" y="1965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↓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5715000" y="30632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↓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7"/>
          <p:cNvSpPr/>
          <p:nvPr/>
        </p:nvSpPr>
        <p:spPr>
          <a:xfrm>
            <a:off x="7040880" y="3977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YES →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3566160" y="3977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NO →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1280160" y="566928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Flowcharts make control flow easy to inspect before implementation.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3022200" y="252360"/>
            <a:ext cx="61182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Exercise: Finding the Maximum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simple algorithm for finding the largest value in a list.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5"/>
          <p:cNvSpPr/>
          <p:nvPr/>
        </p:nvSpPr>
        <p:spPr>
          <a:xfrm>
            <a:off x="1828800" y="1508760"/>
            <a:ext cx="8503560" cy="2880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Input: [4, 9, 2, 7, 5]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maximum = 4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compare each value with maximum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update maximum when a larger value is found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Output: 9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2743200" y="461772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1. Start with the first value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2743200" y="501084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2. Compare each remaining value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2743200" y="540396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3. Keep the largest value found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20"/>
          <p:cNvSpPr/>
          <p:nvPr/>
        </p:nvSpPr>
        <p:spPr>
          <a:xfrm>
            <a:off x="3003480" y="252360"/>
            <a:ext cx="6155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Solution: Finding the Maximum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2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3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"/>
          <p:cNvSpPr/>
          <p:nvPr/>
        </p:nvSpPr>
        <p:spPr>
          <a:xfrm>
            <a:off x="1828800" y="1508760"/>
            <a:ext cx="8503560" cy="40712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BEGIN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Read a list of numbers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maximum = first number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FOR each number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IF number &gt; maximum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maximum = number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END IF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END FOR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maximum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21"/>
          <p:cNvSpPr/>
          <p:nvPr/>
        </p:nvSpPr>
        <p:spPr>
          <a:xfrm>
            <a:off x="3025440" y="252720"/>
            <a:ext cx="61095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Exercise: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Calculate the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Average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3559680" y="868680"/>
            <a:ext cx="5039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simple algorithm for calculating the average in a list.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5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6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2"/>
          <p:cNvSpPr/>
          <p:nvPr/>
        </p:nvSpPr>
        <p:spPr>
          <a:xfrm>
            <a:off x="1828800" y="1508760"/>
            <a:ext cx="8503560" cy="2880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L: [4, 9, 2, 7, 5]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Calculate the average of the list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Output: 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2743200" y="4617720"/>
            <a:ext cx="2874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1. Sum all the values in the list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8"/>
          <p:cNvSpPr/>
          <p:nvPr/>
        </p:nvSpPr>
        <p:spPr>
          <a:xfrm>
            <a:off x="2743200" y="5010840"/>
            <a:ext cx="507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2. Divide the sum by the </a:t>
            </a: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number of elements in </a:t>
            </a: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the list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9"/>
          <p:cNvSpPr/>
          <p:nvPr/>
        </p:nvSpPr>
        <p:spPr>
          <a:xfrm>
            <a:off x="2743200" y="5403960"/>
            <a:ext cx="176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3. Return average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7" name=""/>
              <p:cNvSpPr txBox="1"/>
              <p:nvPr/>
            </p:nvSpPr>
            <p:spPr>
              <a:xfrm>
                <a:off x="6660000" y="3368880"/>
                <a:ext cx="759240" cy="411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Av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nary>
                      <m:naryPr>
                        <m:chr m:val="∑"/>
                      </m:naryPr>
                      <m:sub>
                        <m:r>
                          <m:t xml:space="preserve">i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n</m:t>
                        </m:r>
                      </m:sup>
                      <m:e>
                        <m:sSub>
                          <m:e>
                            <m:r>
                              <m:t xml:space="preserve">L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57" name=""/>
              <p:cNvSpPr txBox="1"/>
              <p:nvPr/>
            </p:nvSpPr>
            <p:spPr>
              <a:xfrm>
                <a:off x="6660000" y="3368880"/>
                <a:ext cx="759240" cy="4111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30"/>
          <p:cNvSpPr/>
          <p:nvPr/>
        </p:nvSpPr>
        <p:spPr>
          <a:xfrm>
            <a:off x="3008520" y="252360"/>
            <a:ext cx="61452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  <a:ea typeface="Noto Sans CJK SC"/>
              </a:rPr>
              <a:t>Soluti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  <a:ea typeface="Noto Sans CJK SC"/>
              </a:rPr>
              <a:t>on: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Calcul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ate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the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Avera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ge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1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2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3"/>
          <p:cNvSpPr/>
          <p:nvPr/>
        </p:nvSpPr>
        <p:spPr>
          <a:xfrm>
            <a:off x="1828800" y="1508760"/>
            <a:ext cx="8503560" cy="40712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BEGIN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Read a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list of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numbers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total = 0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FOR each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number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total =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total +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number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END FOR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average =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total /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number of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elements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average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33"/>
          <p:cNvSpPr/>
          <p:nvPr/>
        </p:nvSpPr>
        <p:spPr>
          <a:xfrm>
            <a:off x="3025440" y="251640"/>
            <a:ext cx="611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Exercise: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Search for an </a:t>
            </a: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Element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4"/>
          <p:cNvSpPr/>
          <p:nvPr/>
        </p:nvSpPr>
        <p:spPr>
          <a:xfrm>
            <a:off x="3630600" y="868680"/>
            <a:ext cx="4898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simple algorithm for searching an element in a list.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6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4"/>
          <p:cNvSpPr/>
          <p:nvPr/>
        </p:nvSpPr>
        <p:spPr>
          <a:xfrm>
            <a:off x="1828800" y="1508760"/>
            <a:ext cx="8503560" cy="2880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Input: [4, 9, 2, </a:t>
            </a: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7, 5]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Target = 2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compare each value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with the target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continue the search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if the value is not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the target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Output: 2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7"/>
          <p:cNvSpPr/>
          <p:nvPr/>
        </p:nvSpPr>
        <p:spPr>
          <a:xfrm>
            <a:off x="2743200" y="4617720"/>
            <a:ext cx="252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1. Start with the first value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8"/>
          <p:cNvSpPr/>
          <p:nvPr/>
        </p:nvSpPr>
        <p:spPr>
          <a:xfrm>
            <a:off x="2743200" y="5010840"/>
            <a:ext cx="3584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2. Compare each value with the target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9"/>
          <p:cNvSpPr/>
          <p:nvPr/>
        </p:nvSpPr>
        <p:spPr>
          <a:xfrm>
            <a:off x="2743200" y="5403960"/>
            <a:ext cx="3274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3. Return the value when == target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40"/>
          <p:cNvSpPr/>
          <p:nvPr/>
        </p:nvSpPr>
        <p:spPr>
          <a:xfrm>
            <a:off x="3007440" y="252360"/>
            <a:ext cx="6147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  <a:ea typeface="Noto Sans CJK SC"/>
              </a:rPr>
              <a:t>Solution: Search for an Element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1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2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0"/>
          <p:cNvSpPr/>
          <p:nvPr/>
        </p:nvSpPr>
        <p:spPr>
          <a:xfrm>
            <a:off x="1828800" y="1508760"/>
            <a:ext cx="8503560" cy="40712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BEGIN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Read a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list and a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target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value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FOR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each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element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IF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element =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target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Print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"Found"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STOP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END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IF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END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"Not found"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43"/>
          <p:cNvSpPr/>
          <p:nvPr/>
        </p:nvSpPr>
        <p:spPr>
          <a:xfrm>
            <a:off x="3739680" y="251640"/>
            <a:ext cx="4683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Exercise: Simple sorting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4"/>
          <p:cNvSpPr/>
          <p:nvPr/>
        </p:nvSpPr>
        <p:spPr>
          <a:xfrm>
            <a:off x="3714840" y="868680"/>
            <a:ext cx="473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 simple algorithm for sorting the element in a list.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45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6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2"/>
          <p:cNvSpPr/>
          <p:nvPr/>
        </p:nvSpPr>
        <p:spPr>
          <a:xfrm>
            <a:off x="1828800" y="1508760"/>
            <a:ext cx="8503560" cy="2880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5f5f5"/>
                </a:solidFill>
                <a:effectLst/>
                <a:uFillTx/>
                <a:latin typeface="Consolas"/>
                <a:ea typeface="Noto Sans CJK SC"/>
              </a:rPr>
              <a:t>Input: [4, 9, 2, 7, 5]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Search the lowest value in the list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move that value to the first position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repeat the process using the next position 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Output: </a:t>
            </a: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[2, 4, 5, 7, 9]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7"/>
          <p:cNvSpPr/>
          <p:nvPr/>
        </p:nvSpPr>
        <p:spPr>
          <a:xfrm>
            <a:off x="2743200" y="4617720"/>
            <a:ext cx="2750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1. Start with the lowest value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8"/>
          <p:cNvSpPr/>
          <p:nvPr/>
        </p:nvSpPr>
        <p:spPr>
          <a:xfrm>
            <a:off x="2743200" y="5010840"/>
            <a:ext cx="1697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2. Update the list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9"/>
          <p:cNvSpPr/>
          <p:nvPr/>
        </p:nvSpPr>
        <p:spPr>
          <a:xfrm>
            <a:off x="2743200" y="5403960"/>
            <a:ext cx="156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3. Repeat again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50"/>
          <p:cNvSpPr/>
          <p:nvPr/>
        </p:nvSpPr>
        <p:spPr>
          <a:xfrm>
            <a:off x="3722760" y="252360"/>
            <a:ext cx="47203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  <a:ea typeface="Noto Sans CJK SC"/>
              </a:rPr>
              <a:t>Solution: Simple sorting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1"/>
          <p:cNvSpPr/>
          <p:nvPr/>
        </p:nvSpPr>
        <p:spPr>
          <a:xfrm>
            <a:off x="365760" y="6446520"/>
            <a:ext cx="133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2"/>
          <p:cNvSpPr/>
          <p:nvPr/>
        </p:nvSpPr>
        <p:spPr>
          <a:xfrm>
            <a:off x="10301760" y="6446520"/>
            <a:ext cx="149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5"/>
          <p:cNvSpPr/>
          <p:nvPr/>
        </p:nvSpPr>
        <p:spPr>
          <a:xfrm>
            <a:off x="1828800" y="1508760"/>
            <a:ext cx="8503560" cy="40712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BEGIN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Read a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list of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numbers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FOR each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position in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list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Find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smallest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remaining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value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Move it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 the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current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position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END FOR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Print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sorted list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Example: Sorting a List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Sorting illustrates how algorithm design choices affect performance.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5"/>
          <p:cNvSpPr/>
          <p:nvPr/>
        </p:nvSpPr>
        <p:spPr>
          <a:xfrm>
            <a:off x="1691640" y="1417320"/>
            <a:ext cx="8823600" cy="342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Input:  [5, 2, 8, 1, 3]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One simple strategy: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Find the smallest value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Move it to the front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Repeat for the remaining values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Output: [1, 2, 3, 5, 8]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1280160" y="525780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Different algorithms can solve the same problem with different numbers of operations.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Divide and Conquer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Solve a large problem by dividing it into smaller subproblems.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5"/>
          <p:cNvSpPr/>
          <p:nvPr/>
        </p:nvSpPr>
        <p:spPr>
          <a:xfrm>
            <a:off x="91440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100584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DIVIDE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105156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Split the problem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into smaller parts.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8"/>
          <p:cNvSpPr/>
          <p:nvPr/>
        </p:nvSpPr>
        <p:spPr>
          <a:xfrm>
            <a:off x="461772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470916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CONQUER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0"/>
          <p:cNvSpPr/>
          <p:nvPr/>
        </p:nvSpPr>
        <p:spPr>
          <a:xfrm>
            <a:off x="475488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Solve each smaller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1"/>
          <p:cNvSpPr/>
          <p:nvPr/>
        </p:nvSpPr>
        <p:spPr>
          <a:xfrm>
            <a:off x="832104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841248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COMBINE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845820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Combine the partial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3886200" y="23774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5"/>
          <p:cNvSpPr/>
          <p:nvPr/>
        </p:nvSpPr>
        <p:spPr>
          <a:xfrm>
            <a:off x="7589520" y="23774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6"/>
          <p:cNvSpPr/>
          <p:nvPr/>
        </p:nvSpPr>
        <p:spPr>
          <a:xfrm>
            <a:off x="2377440" y="4480560"/>
            <a:ext cx="7406280" cy="822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Examples: Merge Sort  •  Binary Search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Algorithm Correctness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An algorithm should produce the expected result for valid inputs.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5"/>
          <p:cNvSpPr/>
          <p:nvPr/>
        </p:nvSpPr>
        <p:spPr>
          <a:xfrm>
            <a:off x="914400" y="1828800"/>
            <a:ext cx="31086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1005840" y="1920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CORRECT OUTPUT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7"/>
          <p:cNvSpPr/>
          <p:nvPr/>
        </p:nvSpPr>
        <p:spPr>
          <a:xfrm>
            <a:off x="1051560" y="2331720"/>
            <a:ext cx="2834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Does the algorithm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 the right answer?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8"/>
          <p:cNvSpPr/>
          <p:nvPr/>
        </p:nvSpPr>
        <p:spPr>
          <a:xfrm>
            <a:off x="4572000" y="1828800"/>
            <a:ext cx="31086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4663440" y="1920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EDGE CASES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0"/>
          <p:cNvSpPr/>
          <p:nvPr/>
        </p:nvSpPr>
        <p:spPr>
          <a:xfrm>
            <a:off x="4709160" y="2331720"/>
            <a:ext cx="2834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What happens for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unusual or extreme inputs?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1"/>
          <p:cNvSpPr/>
          <p:nvPr/>
        </p:nvSpPr>
        <p:spPr>
          <a:xfrm>
            <a:off x="8229600" y="1828800"/>
            <a:ext cx="31086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2"/>
          <p:cNvSpPr/>
          <p:nvPr/>
        </p:nvSpPr>
        <p:spPr>
          <a:xfrm>
            <a:off x="8321040" y="1920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TERMINATION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3"/>
          <p:cNvSpPr/>
          <p:nvPr/>
        </p:nvSpPr>
        <p:spPr>
          <a:xfrm>
            <a:off x="8366760" y="2331720"/>
            <a:ext cx="2834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Does the algorithm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always finish?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4"/>
          <p:cNvSpPr/>
          <p:nvPr/>
        </p:nvSpPr>
        <p:spPr>
          <a:xfrm>
            <a:off x="1371600" y="4572000"/>
            <a:ext cx="9417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Before optimizing an algorithm, make sure it is correct.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From Algorithm to Python Code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Once the logic is clear, translate the algorithm into executable code.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914400" y="15087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Algorithm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6"/>
          <p:cNvSpPr/>
          <p:nvPr/>
        </p:nvSpPr>
        <p:spPr>
          <a:xfrm>
            <a:off x="685800" y="2057400"/>
            <a:ext cx="4388760" cy="255996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maximum = numbers[0]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for x in numbers: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if x &gt; maximum: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maximum = x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5257800" y="28346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6400800" y="15087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Python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9"/>
          <p:cNvSpPr/>
          <p:nvPr/>
        </p:nvSpPr>
        <p:spPr>
          <a:xfrm>
            <a:off x="6400800" y="2057400"/>
            <a:ext cx="4388760" cy="255996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numbers = [4, 9, 2, 7, 5]</a:t>
            </a: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maximum = max(numbers)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print(maximum)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0"/>
          <p:cNvSpPr/>
          <p:nvPr/>
        </p:nvSpPr>
        <p:spPr>
          <a:xfrm>
            <a:off x="1371600" y="525780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Implementation should preserve the logic of the algorithm.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548640" y="2743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Introduction to Computational Complexity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731520" y="8229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Two correct algorithms can require very different amounts of time or memory.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365760" y="64465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Alvaro Callejas Tavera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7863840" y="6446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Python Workshop - 2026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5"/>
          <p:cNvSpPr/>
          <p:nvPr/>
        </p:nvSpPr>
        <p:spPr>
          <a:xfrm>
            <a:off x="109728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118872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ALGORITHM 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123444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100 operations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100 inputs.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4251960" y="23774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f646c"/>
                </a:solidFill>
                <a:effectLst/>
                <a:uFillTx/>
                <a:latin typeface="Aptos"/>
              </a:rPr>
              <a:t>vs.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9"/>
          <p:cNvSpPr/>
          <p:nvPr/>
        </p:nvSpPr>
        <p:spPr>
          <a:xfrm>
            <a:off x="466344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0"/>
          <p:cNvSpPr/>
          <p:nvPr/>
        </p:nvSpPr>
        <p:spPr>
          <a:xfrm>
            <a:off x="475488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ALGORITHM B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1"/>
          <p:cNvSpPr/>
          <p:nvPr/>
        </p:nvSpPr>
        <p:spPr>
          <a:xfrm>
            <a:off x="480060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10,000 operations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100 inputs.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2"/>
          <p:cNvSpPr/>
          <p:nvPr/>
        </p:nvSpPr>
        <p:spPr>
          <a:xfrm>
            <a:off x="7818120" y="23774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→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13"/>
          <p:cNvSpPr/>
          <p:nvPr/>
        </p:nvSpPr>
        <p:spPr>
          <a:xfrm>
            <a:off x="8412480" y="182880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f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4"/>
          <p:cNvSpPr/>
          <p:nvPr/>
        </p:nvSpPr>
        <p:spPr>
          <a:xfrm>
            <a:off x="8503920" y="1920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69aa"/>
                </a:solidFill>
                <a:effectLst/>
                <a:uFillTx/>
                <a:latin typeface="Aptos"/>
              </a:rPr>
              <a:t>QUESTION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5"/>
          <p:cNvSpPr/>
          <p:nvPr/>
        </p:nvSpPr>
        <p:spPr>
          <a:xfrm>
            <a:off x="8549640" y="233172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62a"/>
                </a:solidFill>
                <a:effectLst/>
                <a:uFillTx/>
                <a:latin typeface="Aptos"/>
              </a:rPr>
              <a:t>How does the work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scale with input size?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6"/>
          <p:cNvSpPr/>
          <p:nvPr/>
        </p:nvSpPr>
        <p:spPr>
          <a:xfrm>
            <a:off x="2011680" y="4480560"/>
            <a:ext cx="8137800" cy="822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5f5"/>
                </a:solidFill>
                <a:effectLst/>
                <a:uFillTx/>
                <a:latin typeface="Consolas"/>
              </a:rPr>
              <a:t>Next topic: Big-O notation and computational complexity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2026-09-28T15:26:08Z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